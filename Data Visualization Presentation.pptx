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64" r:id="rId6"/>
    <p:sldId id="265" r:id="rId7"/>
    <p:sldId id="258" r:id="rId8"/>
    <p:sldId id="269" r:id="rId9"/>
    <p:sldId id="270" r:id="rId10"/>
    <p:sldId id="262" r:id="rId11"/>
    <p:sldId id="271" r:id="rId12"/>
    <p:sldId id="266" r:id="rId13"/>
    <p:sldId id="267" r:id="rId14"/>
    <p:sldId id="268" r:id="rId15"/>
    <p:sldId id="26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D932"/>
    <a:srgbClr val="D7014D"/>
    <a:srgbClr val="D70167"/>
    <a:srgbClr val="0B3D91"/>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39"/>
    <p:restoredTop sz="96405"/>
  </p:normalViewPr>
  <p:slideViewPr>
    <p:cSldViewPr snapToGrid="0" snapToObjects="1">
      <p:cViewPr varScale="1">
        <p:scale>
          <a:sx n="126" d="100"/>
          <a:sy n="126" d="100"/>
        </p:scale>
        <p:origin x="104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morning/afternoon. Our topic is Data Visualization in Python, for the Probability and Statistics course, MTH1203. We are a BSIT Year 1 group, and this project used Python to explore the Tips dataset with charts. I will hand over to my group members as we go through the slides.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explains what data visualization is. Data visualization means showing data using charts and graphs instead of plain numbers. It helps us see patterns, trends, and relationships quickly, and makes statistics easier to understand for anyone, even without a strong math background. In this project we used Python to build different charts from the Tips dataset.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Here we introduce the four Python libraries we used. Matplotlib is the basic library for charts like bar, line, histogram, and scatter plots. Seaborn is built on top of Matplotlib and makes some charts, like the heatmap and box plot, easier to create. Plotly is used to make an interactive chart that you can hover over and zoom into. Pandas is used to load and organize the data table we worked with.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describes our dataset. We used the Tips dataset, which comes built into Seaborn. It contains records of restaurant bills and the tips customers left. The important columns are total_bill, the bill amount; tip, the tip amount; day, the day of the week; smoker, whether the customer was a smoker; and size, the number of people at the table.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has two charts. First, the Bar Chart. What is this chart? It is a bar chart. Why did we use it? We used it to compare the average tip for each day. What data did we use? The day column and the average of the tip column, grouped by day. What does it show? Each bar represents one day; a higher bar means the average tip was higher that day. For example, Sunday has the tallest bar, so tips were highest on Sunday. Second, the Line Chart. This is a line chart. We used it to show how the total bill changes across the first 50 records in the dataset. Each point on the line is one record, and the points are connected in the order they appear. It shows the ups and downs in total bill amount from one customer to the next.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has two charts. First, the Histogram. This is a histogram. We used it to show how the total bill amounts are spread out. We used the total_bill column, split into bins. Taller bars mean more bills fall in that price range. For example, most bills are between 10 and 20 dollars. Second, the Scatter Plot. This is a scatter plot. We used it to show the relationship between total bill and tip. Each dot represents one customer. As the dots move up and to the right, it suggests that bigger bills tend to come with bigger tips.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has two charts. First, the Box Plot. This is a box plot. We used it to compare total bill amounts between the different days and to help spot outliers. We used the total_bill column, grouped by day. The box shows the middle 50 percent of the bills for that day, the line in the box is the median, and the dots outside the box are outliers, meaning unusually high or low bills. Second, the Pie Chart. This is a pie chart. We used it to show the share of smokers versus non-smokers in our data. We used the smoker column. Each slice represents a percentage of the whole group; for example, most customers in the dataset were non-smokers.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a heatmap. A heatmap uses color and numbers together to show how variables relate to each other. We used three columns: total_bill, tip, and size. Each cell shows a number between 0 and 1; numbers closer to 1 mean a stronger relationship between the two variables, and darker or lighter colors help us see this at a glance. From our heatmap, total_bill and tip are closely related, which makes sense because customers who spend more tend to tip more.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is our interactive chart, made with Plotly. We used Plotly because it lets us interact with the chart, instead of just looking at a fixed image. It shows the same data as our scatter plot: total_bill versus tip. The difference between this and a normal scatter plot is that in the live notebook, you can hover over each point to see its exact values, and you can zoom in to look closely at a group of points. This makes it easier to explore the data in detail.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lists best practices we followed. Choose the correct chart for your data. Use clear titles so anyone can understand what the chart is about. Label the x-axis and y-axis. Keep charts simple, and avoid unnecessary information that can confuse the reader. Overall, make sure charts are easy to read at a glance.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conclude, we learned how to use Matplotlib, Seaborn, Plotly, and Pandas to visualize data. Charts helped us understand the Tips dataset more easily than just looking at raw numbers. Data visualization is a useful skill for analyzing and presenting data, and Python makes it possible to create both simple, static charts and interactive ones.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These are the references we used for our research and background reading on data visualization and the Python libraries.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Thank you for listening. We are happy to answer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hyperlink" Target="mailto:info@ucu.ac.ug" TargetMode="External"/><Relationship Id="rId7" Type="http://schemas.openxmlformats.org/officeDocument/2006/relationships/hyperlink" Target="https://ucu.ac.ug/" TargetMode="External"/><Relationship Id="rId6" Type="http://schemas.microsoft.com/office/2007/relationships/hdphoto" Target="../media/image5.wdp"/><Relationship Id="rId5" Type="http://schemas.openxmlformats.org/officeDocument/2006/relationships/image" Target="../media/image4.png"/><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1" Type="http://schemas.microsoft.com/office/2007/relationships/hdphoto" Target="../media/image8.wdp"/><Relationship Id="rId10"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dirty="0"/>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a:solidFill>
            <a:srgbClr val="D7014D"/>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endParaRPr lang="en-US" dirty="0"/>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5" name="Text Placeholder 4"/>
          <p:cNvSpPr>
            <a:spLocks noGrp="1"/>
          </p:cNvSpPr>
          <p:nvPr>
            <p:ph type="body" sz="quarter" idx="3"/>
          </p:nvPr>
        </p:nvSpPr>
        <p:spPr>
          <a:xfrm>
            <a:off x="6172200" y="1681163"/>
            <a:ext cx="5183188" cy="823912"/>
          </a:xfrm>
          <a:solidFill>
            <a:srgbClr val="FFD932"/>
          </a:solidFill>
        </p:spPr>
        <p:txBody>
          <a:bodyPr anchor="b"/>
          <a:lstStyle>
            <a:lvl1pPr marL="0" indent="0">
              <a:buNone/>
              <a:defRPr sz="24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endParaRPr lang="en-US" dirty="0"/>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7" name="Date Placeholder 6"/>
          <p:cNvSpPr>
            <a:spLocks noGrp="1"/>
          </p:cNvSpPr>
          <p:nvPr>
            <p:ph type="dt" sz="half" idx="10"/>
          </p:nvPr>
        </p:nvSpPr>
        <p:spPr/>
        <p:txBody>
          <a:bodyPr/>
          <a:lstStyle/>
          <a:p>
            <a:fld id="{145D528E-B0C4-574C-AE6E-B35A83CFEB13}" type="datetimeFigureOut">
              <a:rPr lang="en-GB" smtClean="0"/>
            </a:fld>
            <a:endParaRPr lang="en-GB"/>
          </a:p>
        </p:txBody>
      </p:sp>
      <p:sp>
        <p:nvSpPr>
          <p:cNvPr id="8" name="Footer Placeholder 7"/>
          <p:cNvSpPr>
            <a:spLocks noGrp="1"/>
          </p:cNvSpPr>
          <p:nvPr>
            <p:ph type="ftr" sz="quarter" idx="11"/>
          </p:nvPr>
        </p:nvSpPr>
        <p:spPr>
          <a:xfrm>
            <a:off x="2116899" y="6356350"/>
            <a:ext cx="8129391" cy="365125"/>
          </a:xfrm>
          <a:prstGeom prst="rect">
            <a:avLst/>
          </a:prstGeom>
        </p:spPr>
        <p:txBody>
          <a:bodyPr/>
          <a:lstStyle/>
          <a:p>
            <a:endParaRPr lang="en-GB"/>
          </a:p>
        </p:txBody>
      </p:sp>
      <p:sp>
        <p:nvSpPr>
          <p:cNvPr id="9" name="Slide Number Placeholder 8"/>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145D528E-B0C4-574C-AE6E-B35A83CFEB13}" type="datetimeFigureOut">
              <a:rPr lang="en-GB" smtClean="0"/>
            </a:fld>
            <a:endParaRPr lang="en-GB"/>
          </a:p>
        </p:txBody>
      </p:sp>
      <p:sp>
        <p:nvSpPr>
          <p:cNvPr id="4" name="Footer Placeholder 3"/>
          <p:cNvSpPr>
            <a:spLocks noGrp="1"/>
          </p:cNvSpPr>
          <p:nvPr>
            <p:ph type="ftr" sz="quarter" idx="11"/>
          </p:nvPr>
        </p:nvSpPr>
        <p:spPr>
          <a:xfrm>
            <a:off x="2116899" y="6356350"/>
            <a:ext cx="8129391" cy="365125"/>
          </a:xfrm>
          <a:prstGeom prst="rect">
            <a:avLst/>
          </a:prstGeom>
        </p:spPr>
        <p:txBody>
          <a:bodyPr/>
          <a:lstStyle/>
          <a:p>
            <a:endParaRPr lang="en-GB"/>
          </a:p>
        </p:txBody>
      </p:sp>
      <p:sp>
        <p:nvSpPr>
          <p:cNvPr id="5" name="Slide Number Placeholder 4"/>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5D528E-B0C4-574C-AE6E-B35A83CFEB13}" type="datetimeFigureOut">
              <a:rPr lang="en-GB" smtClean="0"/>
            </a:fld>
            <a:endParaRPr lang="en-GB"/>
          </a:p>
        </p:txBody>
      </p:sp>
      <p:sp>
        <p:nvSpPr>
          <p:cNvPr id="3" name="Footer Placeholder 2"/>
          <p:cNvSpPr>
            <a:spLocks noGrp="1"/>
          </p:cNvSpPr>
          <p:nvPr>
            <p:ph type="ftr" sz="quarter" idx="11"/>
          </p:nvPr>
        </p:nvSpPr>
        <p:spPr>
          <a:xfrm>
            <a:off x="2116899" y="6356350"/>
            <a:ext cx="8129391" cy="365125"/>
          </a:xfrm>
          <a:prstGeom prst="rect">
            <a:avLst/>
          </a:prstGeom>
        </p:spPr>
        <p:txBody>
          <a:bodyPr/>
          <a:lstStyle/>
          <a:p>
            <a:endParaRPr lang="en-GB"/>
          </a:p>
        </p:txBody>
      </p:sp>
      <p:sp>
        <p:nvSpPr>
          <p:cNvPr id="4" name="Slide Number Placeholder 3"/>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45D528E-B0C4-574C-AE6E-B35A83CFEB13}" type="datetimeFigureOut">
              <a:rPr lang="en-GB" smtClean="0"/>
            </a:fld>
            <a:endParaRPr lang="en-GB"/>
          </a:p>
        </p:txBody>
      </p:sp>
      <p:sp>
        <p:nvSpPr>
          <p:cNvPr id="6" name="Footer Placeholder 5"/>
          <p:cNvSpPr>
            <a:spLocks noGrp="1"/>
          </p:cNvSpPr>
          <p:nvPr>
            <p:ph type="ftr" sz="quarter" idx="11"/>
          </p:nvPr>
        </p:nvSpPr>
        <p:spPr>
          <a:xfrm>
            <a:off x="2116899" y="6356350"/>
            <a:ext cx="8129391" cy="365125"/>
          </a:xfrm>
          <a:prstGeom prst="rect">
            <a:avLst/>
          </a:prstGeom>
        </p:spPr>
        <p:txBody>
          <a:bodyPr/>
          <a:lstStyle/>
          <a:p>
            <a:endParaRPr lang="en-GB"/>
          </a:p>
        </p:txBody>
      </p:sp>
      <p:sp>
        <p:nvSpPr>
          <p:cNvPr id="7" name="Slide Number Placeholder 6"/>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4" name="Date Placeholder 3"/>
          <p:cNvSpPr>
            <a:spLocks noGrp="1"/>
          </p:cNvSpPr>
          <p:nvPr>
            <p:ph type="dt" sz="half" idx="10"/>
          </p:nvPr>
        </p:nvSpPr>
        <p:spPr/>
        <p:txBody>
          <a:bodyPr/>
          <a:lstStyle/>
          <a:p>
            <a:fld id="{145D528E-B0C4-574C-AE6E-B35A83CFEB13}" type="datetimeFigureOut">
              <a:rPr lang="en-GB" smtClean="0"/>
            </a:fld>
            <a:endParaRPr lang="en-GB"/>
          </a:p>
        </p:txBody>
      </p:sp>
      <p:sp>
        <p:nvSpPr>
          <p:cNvPr id="5" name="Footer Placeholder 4"/>
          <p:cNvSpPr>
            <a:spLocks noGrp="1"/>
          </p:cNvSpPr>
          <p:nvPr>
            <p:ph type="ftr" sz="quarter" idx="11"/>
          </p:nvPr>
        </p:nvSpPr>
        <p:spPr>
          <a:xfrm>
            <a:off x="2116899" y="6356350"/>
            <a:ext cx="8129391" cy="365125"/>
          </a:xfrm>
          <a:prstGeom prst="rect">
            <a:avLst/>
          </a:prstGeom>
        </p:spPr>
        <p:txBody>
          <a:bodyPr/>
          <a:lstStyle/>
          <a:p>
            <a:endParaRPr lang="en-GB"/>
          </a:p>
        </p:txBody>
      </p:sp>
      <p:sp>
        <p:nvSpPr>
          <p:cNvPr id="6" name="Slide Number Placeholder 5"/>
          <p:cNvSpPr>
            <a:spLocks noGrp="1"/>
          </p:cNvSpPr>
          <p:nvPr>
            <p:ph type="sldNum" sz="quarter" idx="12"/>
          </p:nvPr>
        </p:nvSpPr>
        <p:spPr/>
        <p:txBody>
          <a:bodyPr/>
          <a:lstStyle/>
          <a:p>
            <a:fld id="{783EAA9A-AD91-1245-A5C3-6A0CBEF58DBD}" type="slidenum">
              <a:rPr lang="en-GB" smtClean="0"/>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83EAA9A-AD91-1245-A5C3-6A0CBEF58DBD}" type="slidenum">
              <a:rPr lang="en-GB" smtClean="0"/>
            </a:fld>
            <a:endParaRPr lang="en-GB" dirty="0"/>
          </a:p>
        </p:txBody>
      </p:sp>
      <p:sp>
        <p:nvSpPr>
          <p:cNvPr id="4" name="Date Placeholder 3"/>
          <p:cNvSpPr>
            <a:spLocks noGrp="1"/>
          </p:cNvSpPr>
          <p:nvPr>
            <p:ph type="dt" sz="half" idx="11"/>
          </p:nvPr>
        </p:nvSpPr>
        <p:spPr/>
        <p:txBody>
          <a:bodyPr/>
          <a:lstStyle/>
          <a:p>
            <a:fld id="{145D528E-B0C4-574C-AE6E-B35A83CFEB13}" type="datetimeFigureOut">
              <a:rPr lang="en-GB" smtClean="0"/>
            </a:fld>
            <a:endParaRPr lang="en-GB" dirty="0"/>
          </a:p>
        </p:txBody>
      </p:sp>
      <p:sp>
        <p:nvSpPr>
          <p:cNvPr id="5" name="Footer Placeholder 4"/>
          <p:cNvSpPr>
            <a:spLocks noGrp="1"/>
          </p:cNvSpPr>
          <p:nvPr>
            <p:ph type="ftr" sz="quarter" idx="12"/>
          </p:nvPr>
        </p:nvSpPr>
        <p:spPr/>
        <p:txBody>
          <a:bodyPr/>
          <a:lstStyle/>
          <a:p>
            <a:endParaRPr lang="en-GB" dirty="0"/>
          </a:p>
        </p:txBody>
      </p:sp>
      <p:grpSp>
        <p:nvGrpSpPr>
          <p:cNvPr id="20" name="Group 19"/>
          <p:cNvGrpSpPr/>
          <p:nvPr userDrawn="1"/>
        </p:nvGrpSpPr>
        <p:grpSpPr>
          <a:xfrm>
            <a:off x="2836065" y="3885190"/>
            <a:ext cx="6359384" cy="2140032"/>
            <a:chOff x="3054867" y="3815867"/>
            <a:chExt cx="6359384" cy="2140032"/>
          </a:xfrm>
        </p:grpSpPr>
        <p:grpSp>
          <p:nvGrpSpPr>
            <p:cNvPr id="6" name="Group 5"/>
            <p:cNvGrpSpPr/>
            <p:nvPr userDrawn="1"/>
          </p:nvGrpSpPr>
          <p:grpSpPr>
            <a:xfrm>
              <a:off x="4699683" y="3815867"/>
              <a:ext cx="4714568" cy="2140032"/>
              <a:chOff x="4173580" y="3135225"/>
              <a:chExt cx="5623246" cy="2568070"/>
            </a:xfrm>
          </p:grpSpPr>
          <p:pic>
            <p:nvPicPr>
              <p:cNvPr id="7" name="Picture 4" descr="facebook instagram whatsapp PNG image with transparent background | TOPpng"/>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0" b="69732" l="0" r="98929">
                            <a14:foregroundMark x1="9524" y1="3376" x2="23929" y2="25378"/>
                            <a14:foregroundMark x1="15833" y1="5122" x2="19643" y2="5122"/>
                            <a14:foregroundMark x1="22381" y1="8149" x2="24762" y2="21187"/>
                            <a14:foregroundMark x1="10119" y1="11409" x2="14643" y2="23632"/>
                            <a14:foregroundMark x1="7738" y1="14435" x2="11071" y2="24796"/>
                            <a14:foregroundMark x1="75000" y1="9662" x2="75833" y2="23865"/>
                            <a14:foregroundMark x1="76548" y1="7800" x2="89643" y2="8964"/>
                            <a14:foregroundMark x1="82976" y1="2328" x2="91786" y2="20722"/>
                            <a14:foregroundMark x1="78452" y1="21769" x2="87024" y2="20605"/>
                            <a14:foregroundMark x1="83333" y1="14668" x2="83333" y2="14668"/>
                            <a14:foregroundMark x1="90357" y1="9895" x2="91190" y2="17695"/>
                            <a14:foregroundMark x1="17500" y1="9546" x2="17738" y2="17346"/>
                            <a14:foregroundMark x1="23929" y1="3609" x2="23333" y2="10128"/>
                          </a14:backgroundRemoval>
                        </a14:imgEffect>
                      </a14:imgLayer>
                    </a14:imgProps>
                  </a:ext>
                  <a:ext uri="{28A0092B-C50C-407E-A947-70E740481C1C}">
                    <a14:useLocalDpi xmlns:a14="http://schemas.microsoft.com/office/drawing/2010/main" val="0"/>
                  </a:ext>
                </a:extLst>
              </a:blip>
              <a:srcRect r="66494" b="67238"/>
              <a:stretch>
                <a:fillRect/>
              </a:stretch>
            </p:blipFill>
            <p:spPr bwMode="auto">
              <a:xfrm>
                <a:off x="4238019" y="4511394"/>
                <a:ext cx="413410" cy="42991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facebook instagram whatsapp PNG image with transparent background | TOPpng"/>
              <p:cNvPicPr>
                <a:picLocks noChangeAspect="1" noChangeArrowheads="1"/>
              </p:cNvPicPr>
              <p:nvPr/>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l="67402" b="69905"/>
              <a:stretch>
                <a:fillRect/>
              </a:stretch>
            </p:blipFill>
            <p:spPr bwMode="auto">
              <a:xfrm>
                <a:off x="4296096" y="4883265"/>
                <a:ext cx="413865" cy="406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Round black telephone logo, Telephone Icon, Phone File, electronics, logo,  black And White png | PNGWing"/>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935" l="1522" r="100000">
                            <a14:foregroundMark x1="32717" y1="37283" x2="32717" y2="37283"/>
                            <a14:foregroundMark x1="36957" y1="24565" x2="36957" y2="24565"/>
                            <a14:foregroundMark x1="46304" y1="30435" x2="46304" y2="30435"/>
                            <a14:foregroundMark x1="55435" y1="30326" x2="55435" y2="30326"/>
                            <a14:foregroundMark x1="65870" y1="27826" x2="65870" y2="27826"/>
                            <a14:foregroundMark x1="73152" y1="43478" x2="73152" y2="43478"/>
                            <a14:foregroundMark x1="57500" y1="44783" x2="57500" y2="44783"/>
                            <a14:foregroundMark x1="42826" y1="45000" x2="42826" y2="45000"/>
                            <a14:foregroundMark x1="29348" y1="56413" x2="29348" y2="56413"/>
                            <a14:foregroundMark x1="37283" y1="73913" x2="37283" y2="73913"/>
                            <a14:foregroundMark x1="46630" y1="70870" x2="46630" y2="70870"/>
                            <a14:foregroundMark x1="46087" y1="56413" x2="46087" y2="56413"/>
                            <a14:foregroundMark x1="54022" y1="57500" x2="54022" y2="57500"/>
                            <a14:foregroundMark x1="53696" y1="74457" x2="53696" y2="74457"/>
                            <a14:foregroundMark x1="71630" y1="60761" x2="71630" y2="60761"/>
                            <a14:foregroundMark x1="62283" y1="73696" x2="62283" y2="73696"/>
                          </a14:backgroundRemoval>
                        </a14:imgEffect>
                      </a14:imgLayer>
                    </a14:imgProps>
                  </a:ext>
                  <a:ext uri="{28A0092B-C50C-407E-A947-70E740481C1C}">
                    <a14:useLocalDpi xmlns:a14="http://schemas.microsoft.com/office/drawing/2010/main" val="0"/>
                  </a:ext>
                </a:extLst>
              </a:blip>
              <a:srcRect/>
              <a:stretch>
                <a:fillRect/>
              </a:stretch>
            </p:blipFill>
            <p:spPr bwMode="auto">
              <a:xfrm>
                <a:off x="4275797" y="5317157"/>
                <a:ext cx="371315" cy="38613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4629313" y="4929543"/>
                <a:ext cx="2964236" cy="360103"/>
              </a:xfrm>
              <a:prstGeom prst="rect">
                <a:avLst/>
              </a:prstGeom>
              <a:noFill/>
            </p:spPr>
            <p:txBody>
              <a:bodyPr wrap="square">
                <a:spAutoFit/>
              </a:bodyPr>
              <a:lstStyle/>
              <a:p>
                <a:pPr defTabSz="685800"/>
                <a:r>
                  <a:rPr lang="en-US" sz="1350" dirty="0">
                    <a:solidFill>
                      <a:prstClr val="black"/>
                    </a:solidFill>
                    <a:latin typeface="+mn-lt"/>
                  </a:rPr>
                  <a:t>@</a:t>
                </a:r>
                <a:r>
                  <a:rPr lang="en-US" sz="1350" dirty="0" err="1">
                    <a:solidFill>
                      <a:prstClr val="black"/>
                    </a:solidFill>
                    <a:latin typeface="+mn-lt"/>
                  </a:rPr>
                  <a:t>ugandachristianuniversity</a:t>
                </a:r>
                <a:endParaRPr lang="en-US" sz="1350" dirty="0">
                  <a:solidFill>
                    <a:prstClr val="black"/>
                  </a:solidFill>
                  <a:latin typeface="+mn-lt"/>
                </a:endParaRPr>
              </a:p>
            </p:txBody>
          </p:sp>
          <p:sp>
            <p:nvSpPr>
              <p:cNvPr id="11" name="TextBox 10"/>
              <p:cNvSpPr txBox="1"/>
              <p:nvPr/>
            </p:nvSpPr>
            <p:spPr>
              <a:xfrm>
                <a:off x="4570065" y="5343192"/>
                <a:ext cx="2851459" cy="360103"/>
              </a:xfrm>
              <a:prstGeom prst="rect">
                <a:avLst/>
              </a:prstGeom>
              <a:noFill/>
            </p:spPr>
            <p:txBody>
              <a:bodyPr wrap="square">
                <a:spAutoFit/>
              </a:bodyPr>
              <a:lstStyle/>
              <a:p>
                <a:pPr defTabSz="685800"/>
                <a:r>
                  <a:rPr lang="en-GB" sz="1350" dirty="0">
                    <a:solidFill>
                      <a:srgbClr val="0000FF"/>
                    </a:solidFill>
                    <a:latin typeface="+mn-lt"/>
                    <a:hlinkClick r:id="rId7"/>
                  </a:rPr>
                  <a:t>https://ucu.ac.ug/</a:t>
                </a:r>
                <a:r>
                  <a:rPr lang="en-GB" sz="1350" dirty="0">
                    <a:solidFill>
                      <a:srgbClr val="0000FF"/>
                    </a:solidFill>
                    <a:latin typeface="+mn-lt"/>
                  </a:rPr>
                  <a:t> </a:t>
                </a:r>
                <a:endParaRPr lang="en-US" sz="1350" dirty="0">
                  <a:solidFill>
                    <a:srgbClr val="0000FF"/>
                  </a:solidFill>
                  <a:latin typeface="+mn-lt"/>
                </a:endParaRPr>
              </a:p>
            </p:txBody>
          </p:sp>
          <p:sp>
            <p:nvSpPr>
              <p:cNvPr id="12" name="TextBox 11"/>
              <p:cNvSpPr txBox="1"/>
              <p:nvPr/>
            </p:nvSpPr>
            <p:spPr>
              <a:xfrm>
                <a:off x="8015811" y="4532448"/>
                <a:ext cx="1781015"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UCUniversity</a:t>
                </a:r>
                <a:endParaRPr lang="en-US" sz="1350" dirty="0">
                  <a:solidFill>
                    <a:prstClr val="black">
                      <a:lumMod val="95000"/>
                      <a:lumOff val="5000"/>
                    </a:prstClr>
                  </a:solidFill>
                  <a:latin typeface="+mn-lt"/>
                </a:endParaRPr>
              </a:p>
            </p:txBody>
          </p:sp>
          <p:sp>
            <p:nvSpPr>
              <p:cNvPr id="13" name="TextBox 12"/>
              <p:cNvSpPr txBox="1"/>
              <p:nvPr/>
            </p:nvSpPr>
            <p:spPr>
              <a:xfrm>
                <a:off x="4535920" y="4545114"/>
                <a:ext cx="3240067" cy="369337"/>
              </a:xfrm>
              <a:prstGeom prst="rect">
                <a:avLst/>
              </a:prstGeom>
              <a:noFill/>
            </p:spPr>
            <p:txBody>
              <a:bodyPr wrap="square">
                <a:spAutoFit/>
              </a:bodyPr>
              <a:lstStyle/>
              <a:p>
                <a:pPr defTabSz="685800"/>
                <a:r>
                  <a:rPr lang="en-GB" sz="1350" dirty="0">
                    <a:solidFill>
                      <a:prstClr val="black">
                        <a:lumMod val="95000"/>
                        <a:lumOff val="5000"/>
                      </a:prstClr>
                    </a:solidFill>
                    <a:latin typeface="+mn-lt"/>
                  </a:rPr>
                  <a:t>@</a:t>
                </a:r>
                <a:r>
                  <a:rPr lang="en-GB" sz="1350" dirty="0" err="1">
                    <a:solidFill>
                      <a:prstClr val="black">
                        <a:lumMod val="95000"/>
                        <a:lumOff val="5000"/>
                      </a:prstClr>
                    </a:solidFill>
                    <a:latin typeface="+mn-lt"/>
                  </a:rPr>
                  <a:t>UgandaChristianUniversity</a:t>
                </a:r>
                <a:endParaRPr lang="en-US" sz="1350" dirty="0">
                  <a:solidFill>
                    <a:prstClr val="black">
                      <a:lumMod val="95000"/>
                      <a:lumOff val="5000"/>
                    </a:prstClr>
                  </a:solidFill>
                  <a:latin typeface="+mn-lt"/>
                </a:endParaRPr>
              </a:p>
            </p:txBody>
          </p:sp>
          <p:sp>
            <p:nvSpPr>
              <p:cNvPr id="14" name="TextBox 13"/>
              <p:cNvSpPr txBox="1"/>
              <p:nvPr/>
            </p:nvSpPr>
            <p:spPr>
              <a:xfrm>
                <a:off x="4201882" y="3514011"/>
                <a:ext cx="3513911" cy="886408"/>
              </a:xfrm>
              <a:prstGeom prst="rect">
                <a:avLst/>
              </a:prstGeom>
              <a:noFill/>
            </p:spPr>
            <p:txBody>
              <a:bodyPr wrap="square">
                <a:spAutoFit/>
              </a:bodyPr>
              <a:lstStyle/>
              <a:p>
                <a:pPr defTabSz="685800"/>
                <a:r>
                  <a:rPr lang="sv-SE" sz="1400" dirty="0">
                    <a:solidFill>
                      <a:srgbClr val="5B9BD5">
                        <a:lumMod val="50000"/>
                      </a:srgbClr>
                    </a:solidFill>
                    <a:latin typeface="+mn-lt"/>
                  </a:rPr>
                  <a:t>P.O. Box 4 Mukono, Uganda</a:t>
                </a:r>
                <a:endParaRPr lang="sv-SE" sz="1400" dirty="0">
                  <a:solidFill>
                    <a:srgbClr val="5B9BD5">
                      <a:lumMod val="50000"/>
                    </a:srgbClr>
                  </a:solidFill>
                  <a:latin typeface="+mn-lt"/>
                </a:endParaRPr>
              </a:p>
              <a:p>
                <a:pPr defTabSz="685800"/>
                <a:r>
                  <a:rPr lang="en-GB" sz="1400" dirty="0">
                    <a:solidFill>
                      <a:srgbClr val="5B9BD5">
                        <a:lumMod val="50000"/>
                      </a:srgbClr>
                    </a:solidFill>
                    <a:latin typeface="+mn-lt"/>
                  </a:rPr>
                  <a:t>Tel: 256-312-350800</a:t>
                </a:r>
                <a:endParaRPr lang="en-GB" sz="1400" dirty="0">
                  <a:solidFill>
                    <a:srgbClr val="5B9BD5">
                      <a:lumMod val="50000"/>
                    </a:srgbClr>
                  </a:solidFill>
                  <a:latin typeface="+mn-lt"/>
                </a:endParaRPr>
              </a:p>
              <a:p>
                <a:pPr defTabSz="685800"/>
                <a:r>
                  <a:rPr lang="fr-FR" sz="1400" dirty="0">
                    <a:solidFill>
                      <a:srgbClr val="5B9BD5">
                        <a:lumMod val="50000"/>
                      </a:srgbClr>
                    </a:solidFill>
                    <a:latin typeface="+mn-lt"/>
                  </a:rPr>
                  <a:t>Email: </a:t>
                </a:r>
                <a:r>
                  <a:rPr lang="fr-FR" sz="1400" dirty="0">
                    <a:solidFill>
                      <a:srgbClr val="0000FF"/>
                    </a:solidFill>
                    <a:latin typeface="+mn-lt"/>
                    <a:hlinkClick r:id="rId8"/>
                  </a:rPr>
                  <a:t>info@ucu.ac.ug</a:t>
                </a:r>
                <a:endParaRPr lang="fr-FR" sz="1400" dirty="0">
                  <a:solidFill>
                    <a:srgbClr val="0000FF"/>
                  </a:solidFill>
                  <a:latin typeface="+mn-lt"/>
                </a:endParaRPr>
              </a:p>
            </p:txBody>
          </p:sp>
          <p:sp>
            <p:nvSpPr>
              <p:cNvPr id="15" name="TextBox 14"/>
              <p:cNvSpPr txBox="1"/>
              <p:nvPr/>
            </p:nvSpPr>
            <p:spPr>
              <a:xfrm>
                <a:off x="4173580" y="3135225"/>
                <a:ext cx="4174871" cy="480138"/>
              </a:xfrm>
              <a:prstGeom prst="rect">
                <a:avLst/>
              </a:prstGeom>
              <a:noFill/>
            </p:spPr>
            <p:txBody>
              <a:bodyPr wrap="square">
                <a:spAutoFit/>
              </a:bodyPr>
              <a:lstStyle/>
              <a:p>
                <a:pPr defTabSz="685800"/>
                <a:r>
                  <a:rPr lang="en-GB" sz="2000" b="1" dirty="0">
                    <a:solidFill>
                      <a:srgbClr val="5B9BD5">
                        <a:lumMod val="50000"/>
                      </a:srgbClr>
                    </a:solidFill>
                    <a:latin typeface="+mj-lt"/>
                  </a:rPr>
                  <a:t>Uganda Christian University</a:t>
                </a:r>
                <a:endParaRPr lang="en-US" sz="2000" dirty="0">
                  <a:solidFill>
                    <a:srgbClr val="5B9BD5">
                      <a:lumMod val="50000"/>
                    </a:srgbClr>
                  </a:solidFill>
                  <a:latin typeface="+mj-lt"/>
                </a:endParaRPr>
              </a:p>
            </p:txBody>
          </p:sp>
          <p:pic>
            <p:nvPicPr>
              <p:cNvPr id="16" name="Picture 6" descr="facebook instagram whatsapp PNG image with transparent background | TOPpng"/>
              <p:cNvPicPr>
                <a:picLocks noChangeAspect="1" noChangeArrowheads="1"/>
              </p:cNvPicPr>
              <p:nvPr userDrawn="1"/>
            </p:nvPicPr>
            <p:blipFill rotWithShape="1">
              <a:blip r:embed="rId4">
                <a:extLst>
                  <a:ext uri="{BEBA8EAE-BF5A-486C-A8C5-ECC9F3942E4B}">
                    <a14:imgProps xmlns:a14="http://schemas.microsoft.com/office/drawing/2010/main">
                      <a14:imgLayer r:embed="rId3">
                        <a14:imgEffect>
                          <a14:backgroundRemoval t="0" b="89872" l="1548" r="97619">
                            <a14:foregroundMark x1="76310" y1="9197" x2="75595" y2="18859"/>
                            <a14:foregroundMark x1="80833" y1="7101" x2="90595" y2="8731"/>
                            <a14:foregroundMark x1="90595" y1="12806" x2="89048" y2="22468"/>
                            <a14:foregroundMark x1="77738" y1="22119" x2="86667" y2="21769"/>
                            <a14:foregroundMark x1="12262" y1="42491" x2="11071" y2="58091"/>
                            <a14:foregroundMark x1="82976" y1="11991" x2="80119" y2="17346"/>
                            <a14:foregroundMark x1="73690" y1="5471" x2="70952" y2="18626"/>
                          </a14:backgroundRemoval>
                        </a14:imgEffect>
                      </a14:imgLayer>
                    </a14:imgProps>
                  </a:ext>
                  <a:ext uri="{28A0092B-C50C-407E-A947-70E740481C1C}">
                    <a14:useLocalDpi xmlns:a14="http://schemas.microsoft.com/office/drawing/2010/main" val="0"/>
                  </a:ext>
                </a:extLst>
              </a:blip>
              <a:srcRect t="34921" r="64675" b="31937"/>
              <a:stretch>
                <a:fillRect/>
              </a:stretch>
            </p:blipFill>
            <p:spPr bwMode="auto">
              <a:xfrm>
                <a:off x="7686943" y="4513314"/>
                <a:ext cx="448492" cy="447534"/>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p:cNvPicPr>
              <a:picLocks noChangeAspect="1"/>
            </p:cNvPicPr>
            <p:nvPr userDrawn="1"/>
          </p:nvPicPr>
          <p:blipFill rotWithShape="1">
            <a:blip r:embed="rId9"/>
            <a:srcRect l="4177" t="16271" r="77310" b="16737"/>
            <a:stretch>
              <a:fillRect/>
            </a:stretch>
          </p:blipFill>
          <p:spPr>
            <a:xfrm>
              <a:off x="3054867" y="3883165"/>
              <a:ext cx="1730515" cy="1908000"/>
            </a:xfrm>
            <a:prstGeom prst="rect">
              <a:avLst/>
            </a:prstGeom>
          </p:spPr>
        </p:pic>
      </p:grpSp>
      <p:pic>
        <p:nvPicPr>
          <p:cNvPr id="21" name="Picture 2" descr="Red button thank you icon Royalty Free Vector Image"/>
          <p:cNvPicPr>
            <a:picLocks noChangeAspect="1" noChangeArrowheads="1"/>
          </p:cNvPicPr>
          <p:nvPr userDrawn="1"/>
        </p:nvPicPr>
        <p:blipFill rotWithShape="1">
          <a:blip r:embed="rId10">
            <a:extLst>
              <a:ext uri="{BEBA8EAE-BF5A-486C-A8C5-ECC9F3942E4B}">
                <a14:imgProps xmlns:a14="http://schemas.microsoft.com/office/drawing/2010/main">
                  <a14:imgLayer r:embed="rId11">
                    <a14:imgEffect>
                      <a14:backgroundRemoval t="8611" b="86019" l="10000" r="90000">
                        <a14:foregroundMark x1="41000" y1="28981" x2="39100" y2="58519"/>
                        <a14:foregroundMark x1="27700" y1="36296" x2="34800" y2="63981"/>
                        <a14:foregroundMark x1="26600" y1="32500" x2="78400" y2="47685"/>
                        <a14:foregroundMark x1="52100" y1="23981" x2="53500" y2="41389"/>
                        <a14:foregroundMark x1="38900" y1="20463" x2="49000" y2="35556"/>
                        <a14:foregroundMark x1="44200" y1="21481" x2="69600" y2="35370"/>
                        <a14:foregroundMark x1="65200" y1="24722" x2="65200" y2="44444"/>
                        <a14:foregroundMark x1="71900" y1="31852" x2="70200" y2="51389"/>
                        <a14:foregroundMark x1="69200" y1="60463" x2="59800" y2="47500"/>
                        <a14:foregroundMark x1="75300" y1="54259" x2="61100" y2="48333"/>
                        <a14:foregroundMark x1="59800" y1="30370" x2="56700" y2="41389"/>
                        <a14:foregroundMark x1="57500" y1="68426" x2="54000" y2="46759"/>
                        <a14:foregroundMark x1="38300" y1="61667" x2="67900" y2="65926"/>
                        <a14:foregroundMark x1="47100" y1="46019" x2="58300" y2="52593"/>
                        <a14:foregroundMark x1="46500" y1="58148" x2="52700" y2="57963"/>
                        <a14:foregroundMark x1="45400" y1="46204" x2="50600" y2="57407"/>
                        <a14:foregroundMark x1="36200" y1="40370" x2="46700" y2="51389"/>
                        <a14:foregroundMark x1="43100" y1="64167" x2="50600" y2="68796"/>
                      </a14:backgroundRemoval>
                    </a14:imgEffect>
                  </a14:imgLayer>
                </a14:imgProps>
              </a:ext>
              <a:ext uri="{28A0092B-C50C-407E-A947-70E740481C1C}">
                <a14:useLocalDpi xmlns:a14="http://schemas.microsoft.com/office/drawing/2010/main" val="0"/>
              </a:ext>
            </a:extLst>
          </a:blip>
          <a:srcRect b="13043"/>
          <a:stretch>
            <a:fillRect/>
          </a:stretch>
        </p:blipFill>
        <p:spPr bwMode="auto">
          <a:xfrm>
            <a:off x="4606336" y="1691476"/>
            <a:ext cx="1825644" cy="1704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hyperlink" Target="http://www.ucu.ac.ug/" TargetMode="External"/><Relationship Id="rId14" Type="http://schemas.openxmlformats.org/officeDocument/2006/relationships/hyperlink" Target="mailto:info@ucu.ac.ug" TargetMode="External"/><Relationship Id="rId13" Type="http://schemas.openxmlformats.org/officeDocument/2006/relationships/image" Target="../media/image6.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776791" y="0"/>
            <a:ext cx="2415209" cy="735885"/>
          </a:xfrm>
          <a:prstGeom prst="rect">
            <a:avLst/>
          </a:prstGeom>
        </p:spPr>
      </p:pic>
      <p:sp>
        <p:nvSpPr>
          <p:cNvPr id="2" name="Title Placeholder 1"/>
          <p:cNvSpPr>
            <a:spLocks noGrp="1"/>
          </p:cNvSpPr>
          <p:nvPr>
            <p:ph type="title"/>
          </p:nvPr>
        </p:nvSpPr>
        <p:spPr>
          <a:xfrm>
            <a:off x="838200" y="365126"/>
            <a:ext cx="10515600" cy="1143000"/>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687514"/>
            <a:ext cx="10515600" cy="4489450"/>
          </a:xfrm>
          <a:prstGeom prst="rect">
            <a:avLst/>
          </a:prstGeom>
        </p:spPr>
        <p:txBody>
          <a:bodyPr vert="horz" lIns="91440" tIns="45720" rIns="91440" bIns="45720" rtlCol="0">
            <a:normAutofit/>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7" name="Rectangle 6"/>
          <p:cNvSpPr/>
          <p:nvPr userDrawn="1"/>
        </p:nvSpPr>
        <p:spPr>
          <a:xfrm>
            <a:off x="838200" y="1508126"/>
            <a:ext cx="11353800" cy="179387"/>
          </a:xfrm>
          <a:prstGeom prst="rect">
            <a:avLst/>
          </a:prstGeom>
          <a:solidFill>
            <a:srgbClr val="0B3D9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ectangle 7"/>
          <p:cNvSpPr/>
          <p:nvPr userDrawn="1"/>
        </p:nvSpPr>
        <p:spPr>
          <a:xfrm>
            <a:off x="0" y="1508126"/>
            <a:ext cx="838200" cy="179387"/>
          </a:xfrm>
          <a:prstGeom prst="rect">
            <a:avLst/>
          </a:prstGeom>
          <a:solidFill>
            <a:srgbClr val="D7014D"/>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2" name="Rectangle 11"/>
          <p:cNvSpPr/>
          <p:nvPr userDrawn="1"/>
        </p:nvSpPr>
        <p:spPr>
          <a:xfrm>
            <a:off x="838200" y="1508125"/>
            <a:ext cx="838200" cy="179387"/>
          </a:xfrm>
          <a:prstGeom prst="rect">
            <a:avLst/>
          </a:prstGeom>
          <a:solidFill>
            <a:srgbClr val="FFD932"/>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p:cNvSpPr>
            <a:spLocks noGrp="1"/>
          </p:cNvSpPr>
          <p:nvPr>
            <p:ph type="sldNum" sz="quarter" idx="4"/>
          </p:nvPr>
        </p:nvSpPr>
        <p:spPr>
          <a:xfrm>
            <a:off x="10809962" y="6356350"/>
            <a:ext cx="54383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3EAA9A-AD91-1245-A5C3-6A0CBEF58DBD}" type="slidenum">
              <a:rPr lang="en-GB" smtClean="0"/>
            </a:fld>
            <a:endParaRPr lang="en-GB" dirty="0"/>
          </a:p>
        </p:txBody>
      </p:sp>
      <p:sp>
        <p:nvSpPr>
          <p:cNvPr id="4" name="Date Placeholder 3"/>
          <p:cNvSpPr>
            <a:spLocks noGrp="1"/>
          </p:cNvSpPr>
          <p:nvPr>
            <p:ph type="dt" sz="half" idx="2"/>
          </p:nvPr>
        </p:nvSpPr>
        <p:spPr>
          <a:xfrm>
            <a:off x="838200" y="6356350"/>
            <a:ext cx="102817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5D528E-B0C4-574C-AE6E-B35A83CFEB13}" type="datetimeFigureOut">
              <a:rPr lang="en-GB" smtClean="0"/>
            </a:fld>
            <a:endParaRPr lang="en-GB" dirty="0"/>
          </a:p>
        </p:txBody>
      </p:sp>
      <p:sp>
        <p:nvSpPr>
          <p:cNvPr id="5" name="Footer Placeholder 4"/>
          <p:cNvSpPr>
            <a:spLocks noGrp="1"/>
          </p:cNvSpPr>
          <p:nvPr>
            <p:ph type="ftr" sz="quarter" idx="3"/>
          </p:nvPr>
        </p:nvSpPr>
        <p:spPr>
          <a:xfrm>
            <a:off x="2116899" y="6251714"/>
            <a:ext cx="8129391" cy="469762"/>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15" name="TextBox 14"/>
          <p:cNvSpPr txBox="1"/>
          <p:nvPr userDrawn="1"/>
        </p:nvSpPr>
        <p:spPr>
          <a:xfrm>
            <a:off x="3975652" y="6176964"/>
            <a:ext cx="3627783" cy="646331"/>
          </a:xfrm>
          <a:prstGeom prst="rect">
            <a:avLst/>
          </a:prstGeom>
          <a:noFill/>
        </p:spPr>
        <p:txBody>
          <a:bodyPr wrap="square" rtlCol="0">
            <a:spAutoFit/>
          </a:bodyPr>
          <a:lstStyle/>
          <a:p>
            <a:pPr algn="ctr"/>
            <a:r>
              <a:rPr lang="en-GB" sz="850" b="1" dirty="0">
                <a:solidFill>
                  <a:srgbClr val="0B3D91"/>
                </a:solidFill>
              </a:rPr>
              <a:t>A Complete Education for A Complete Person</a:t>
            </a:r>
            <a:endParaRPr lang="en-GB" sz="850" b="1" dirty="0">
              <a:solidFill>
                <a:srgbClr val="0B3D91"/>
              </a:solidFill>
            </a:endParaRPr>
          </a:p>
          <a:p>
            <a:pPr algn="ctr"/>
            <a:br>
              <a:rPr lang="en-GB" sz="700" dirty="0"/>
            </a:br>
            <a:r>
              <a:rPr lang="en-GB" sz="700" dirty="0"/>
              <a:t>P.O. Box 4, </a:t>
            </a:r>
            <a:r>
              <a:rPr lang="en-GB" sz="700" dirty="0" err="1"/>
              <a:t>Mukono</a:t>
            </a:r>
            <a:r>
              <a:rPr lang="en-GB" sz="700" dirty="0"/>
              <a:t>, Uganda, Plot 67-173, Bishop Tucker Road, </a:t>
            </a:r>
            <a:r>
              <a:rPr lang="en-GB" sz="700" dirty="0" err="1"/>
              <a:t>Mukono</a:t>
            </a:r>
            <a:r>
              <a:rPr lang="en-GB" sz="700" dirty="0"/>
              <a:t> Hill</a:t>
            </a:r>
            <a:endParaRPr lang="en-US" sz="700" dirty="0"/>
          </a:p>
          <a:p>
            <a:pPr algn="ctr"/>
            <a:r>
              <a:rPr lang="en-GB" sz="700" dirty="0"/>
              <a:t>Tel: +256 (0) 312 350 800 Email: </a:t>
            </a:r>
            <a:r>
              <a:rPr lang="en-GB" sz="700" u="sng" dirty="0">
                <a:solidFill>
                  <a:srgbClr val="0000FF"/>
                </a:solidFill>
                <a:hlinkClick r:id="rId14"/>
              </a:rPr>
              <a:t>info@ucu.ac.ug</a:t>
            </a:r>
            <a:r>
              <a:rPr lang="en-GB" sz="700" dirty="0">
                <a:solidFill>
                  <a:srgbClr val="0000FF"/>
                </a:solidFill>
              </a:rPr>
              <a:t> </a:t>
            </a:r>
            <a:r>
              <a:rPr lang="en-GB" sz="700" dirty="0"/>
              <a:t>Web: </a:t>
            </a:r>
            <a:r>
              <a:rPr lang="en-GB" sz="700" u="sng" dirty="0">
                <a:solidFill>
                  <a:srgbClr val="0000FF"/>
                </a:solidFill>
              </a:rPr>
              <a:t>https://</a:t>
            </a:r>
            <a:r>
              <a:rPr lang="en-GB" sz="700" u="sng" dirty="0">
                <a:solidFill>
                  <a:srgbClr val="0000FF"/>
                </a:solidFill>
                <a:hlinkClick r:id="rId15"/>
              </a:rPr>
              <a:t>ucu.ac.ug</a:t>
            </a:r>
            <a:endParaRPr lang="en-US" sz="700" u="sng" dirty="0">
              <a:solidFill>
                <a:srgbClr val="0000FF"/>
              </a:solidFill>
            </a:endParaRPr>
          </a:p>
          <a:p>
            <a:pPr algn="ctr"/>
            <a:r>
              <a:rPr lang="en-GB" sz="650" dirty="0"/>
              <a:t>Founded by the Province of the Church of Uganda. Chartered by the Government of Uganda</a:t>
            </a:r>
            <a:endParaRPr lang="en-US" sz="650" dirty="0"/>
          </a:p>
        </p:txBody>
      </p:sp>
      <p:cxnSp>
        <p:nvCxnSpPr>
          <p:cNvPr id="17" name="Straight Connector 16"/>
          <p:cNvCxnSpPr/>
          <p:nvPr userDrawn="1"/>
        </p:nvCxnSpPr>
        <p:spPr>
          <a:xfrm>
            <a:off x="0" y="6395027"/>
            <a:ext cx="12192000" cy="0"/>
          </a:xfrm>
          <a:prstGeom prst="line">
            <a:avLst/>
          </a:prstGeom>
          <a:ln w="12700">
            <a:solidFill>
              <a:srgbClr val="D70167"/>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rgbClr val="1F497D"/>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D7014D"/>
        </a:buClr>
        <a:buFont typeface="Wingdings" panose="05000000000000000000" pitchFamily="2" charset="2"/>
        <a:buChar char="q"/>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0B3D91"/>
        </a:buClr>
        <a:buSzPct val="95000"/>
        <a:buFont typeface="Wingdings" panose="05000000000000000000" pitchFamily="2" charset="2"/>
        <a:buChar char="q"/>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D70167"/>
        </a:buClr>
        <a:buSzPct val="90000"/>
        <a:buFont typeface="Wingdings" panose="05000000000000000000" pitchFamily="2" charset="2"/>
        <a:buChar char="q"/>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D70167"/>
        </a:buClr>
        <a:buSzPct val="88000"/>
        <a:buFont typeface="Wingdings" panose="05000000000000000000" pitchFamily="2" charset="2"/>
        <a:buChar char="q"/>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007931"/>
        </a:buClr>
        <a:buSzPct val="86000"/>
        <a:buFont typeface="Wingdings" panose="05000000000000000000" pitchFamily="2" charset="2"/>
        <a:buChar char="q"/>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9.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Data Visualization in Python</a:t>
            </a:r>
            <a:endParaRPr lang="en-GB" dirty="0"/>
          </a:p>
        </p:txBody>
      </p:sp>
      <p:sp>
        <p:nvSpPr>
          <p:cNvPr id="3" name="Subtitle 2"/>
          <p:cNvSpPr>
            <a:spLocks noGrp="1"/>
          </p:cNvSpPr>
          <p:nvPr>
            <p:ph type="subTitle" idx="1"/>
          </p:nvPr>
        </p:nvSpPr>
        <p:spPr>
          <a:xfrm>
            <a:off x="1524000" y="3602038"/>
            <a:ext cx="9144000" cy="2650000"/>
          </a:xfrm>
        </p:spPr>
        <p:txBody>
          <a:bodyPr/>
          <a:lstStyle/>
          <a:p>
            <a:r>
              <a:rPr lang="en-GB" b="1" dirty="0"/>
              <a:t>MTH1203 – Probability and Statistics</a:t>
            </a:r>
            <a:endParaRPr lang="en-GB" b="1" dirty="0"/>
          </a:p>
          <a:p>
            <a:r>
              <a:rPr lang="en-GB" dirty="0"/>
              <a:t>BSIT, Year 1, Semester 2 </a:t>
            </a:r>
            <a:endParaRPr lang="en-GB" dirty="0"/>
          </a:p>
          <a:p>
            <a:r>
              <a:rPr lang="en-GB" dirty="0"/>
              <a:t> Group Research Work</a:t>
            </a:r>
            <a:endParaRPr lang="en-GB" dirty="0"/>
          </a:p>
          <a:p>
            <a:r>
              <a:rPr lang="en-GB" dirty="0"/>
              <a:t>Uganda Christian University</a:t>
            </a:r>
            <a:endParaRPr lang="en-GB" dirty="0"/>
          </a:p>
          <a:p>
            <a:r>
              <a:rPr lang="en-GB" sz="1300" dirty="0"/>
              <a:t>Group Members: Nabukenya Sarah, Amanya Aaron, Chelangat Ruth Hope, Mirembe Norah, Nakafeero Hadijah Karamagi, Simbilyabo David, Chelimo Hussein, Ampumuza Esther</a:t>
            </a:r>
            <a:endParaRPr lang="en-GB"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GB" dirty="0"/>
          </a:p>
        </p:txBody>
      </p:sp>
      <p:sp>
        <p:nvSpPr>
          <p:cNvPr id="3" name="Content Placeholder 2"/>
          <p:cNvSpPr>
            <a:spLocks noGrp="1"/>
          </p:cNvSpPr>
          <p:nvPr>
            <p:ph idx="1"/>
          </p:nvPr>
        </p:nvSpPr>
        <p:spPr/>
        <p:txBody>
          <a:bodyPr/>
          <a:lstStyle/>
          <a:p>
            <a:r>
              <a:rPr lang="en-GB" dirty="0"/>
              <a:t>Data visualization means showing data using charts and graphs instead of plain numbers.</a:t>
            </a:r>
            <a:endParaRPr lang="en-GB" dirty="0"/>
          </a:p>
          <a:p>
            <a:r>
              <a:rPr lang="en-GB" dirty="0"/>
              <a:t>It helps us see patterns, trends, and relationships in data quickly.</a:t>
            </a:r>
            <a:endParaRPr lang="en-GB" dirty="0"/>
          </a:p>
          <a:p>
            <a:r>
              <a:rPr lang="en-GB" dirty="0"/>
              <a:t>Good charts make statistics easier to understand for any audience.</a:t>
            </a:r>
            <a:endParaRPr lang="en-GB" dirty="0"/>
          </a:p>
          <a:p>
            <a:r>
              <a:rPr lang="en-GB" dirty="0"/>
              <a:t>In this project, we used Python to create different charts from the Tips dataset.</a:t>
            </a:r>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Python Libraries Used</a:t>
            </a:r>
            <a:endParaRPr lang="en-GB" dirty="0"/>
          </a:p>
        </p:txBody>
      </p:sp>
      <p:sp>
        <p:nvSpPr>
          <p:cNvPr id="3" name="Content Placeholder 2"/>
          <p:cNvSpPr>
            <a:spLocks noGrp="1"/>
          </p:cNvSpPr>
          <p:nvPr>
            <p:ph idx="1"/>
          </p:nvPr>
        </p:nvSpPr>
        <p:spPr/>
        <p:txBody>
          <a:bodyPr/>
          <a:lstStyle/>
          <a:p>
            <a:r>
              <a:rPr lang="en-GB" dirty="0"/>
              <a:t>Matplotlib – the basic library for charts like bar, line, histogram, and scatter plots.</a:t>
            </a:r>
            <a:endParaRPr lang="en-GB" dirty="0"/>
          </a:p>
          <a:p>
            <a:r>
              <a:rPr lang="en-GB" dirty="0"/>
              <a:t>Seaborn – built on Matplotlib; makes charts like the heatmap and box plot easier.</a:t>
            </a:r>
            <a:endParaRPr lang="en-GB" dirty="0"/>
          </a:p>
          <a:p>
            <a:r>
              <a:rPr lang="en-GB" dirty="0"/>
              <a:t>Plotly – used to make an interactive chart that you can hover and zoom on.</a:t>
            </a:r>
            <a:endParaRPr lang="en-GB" dirty="0"/>
          </a:p>
          <a:p>
            <a:r>
              <a:rPr lang="en-GB" dirty="0"/>
              <a:t>Pandas – used to load and organize the data table.</a:t>
            </a:r>
            <a:endParaRPr lang="en-GB"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Dataset</a:t>
            </a:r>
            <a:endParaRPr lang="en-GB" dirty="0"/>
          </a:p>
        </p:txBody>
      </p:sp>
      <p:sp>
        <p:nvSpPr>
          <p:cNvPr id="3" name="Content Placeholder 2"/>
          <p:cNvSpPr>
            <a:spLocks noGrp="1"/>
          </p:cNvSpPr>
          <p:nvPr>
            <p:ph idx="1"/>
          </p:nvPr>
        </p:nvSpPr>
        <p:spPr/>
        <p:txBody>
          <a:bodyPr/>
          <a:lstStyle/>
          <a:p>
            <a:r>
              <a:rPr lang="en-GB" dirty="0"/>
              <a:t>We used the Tips dataset, which comes built into Seaborn.</a:t>
            </a:r>
            <a:endParaRPr lang="en-GB" dirty="0"/>
          </a:p>
          <a:p>
            <a:r>
              <a:rPr lang="en-GB" dirty="0"/>
              <a:t>It contains records of restaurant bills and the tips customers left.</a:t>
            </a:r>
            <a:endParaRPr lang="en-GB" dirty="0"/>
          </a:p>
          <a:p>
            <a:r>
              <a:rPr lang="en-GB" dirty="0"/>
              <a:t>Important columns:</a:t>
            </a:r>
            <a:endParaRPr lang="en-GB" dirty="0"/>
          </a:p>
          <a:p>
            <a:pPr lvl="1"/>
            <a:r>
              <a:rPr lang="en-GB" dirty="0"/>
              <a:t>total_bill – the amount of the bill</a:t>
            </a:r>
            <a:endParaRPr lang="en-GB" dirty="0"/>
          </a:p>
          <a:p>
            <a:pPr lvl="1"/>
            <a:r>
              <a:rPr lang="en-GB" dirty="0"/>
              <a:t>tip – the amount of tip given</a:t>
            </a:r>
            <a:endParaRPr lang="en-GB" dirty="0"/>
          </a:p>
          <a:p>
            <a:pPr lvl="1"/>
            <a:r>
              <a:rPr lang="en-GB" dirty="0"/>
              <a:t>day – the day of the week</a:t>
            </a:r>
            <a:endParaRPr lang="en-GB" dirty="0"/>
          </a:p>
          <a:p>
            <a:pPr lvl="1"/>
            <a:r>
              <a:rPr lang="en-GB" dirty="0"/>
              <a:t>smoker – whether the customer was a smoker</a:t>
            </a:r>
            <a:endParaRPr lang="en-GB" dirty="0"/>
          </a:p>
          <a:p>
            <a:pPr lvl="1"/>
            <a:r>
              <a:rPr lang="en-GB" dirty="0"/>
              <a:t>size – number of people at the table</a:t>
            </a:r>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Bar Chart and Line Chart</a:t>
            </a:r>
            <a:endParaRPr lang="en-GB" dirty="0"/>
          </a:p>
        </p:txBody>
      </p:sp>
      <p:pic>
        <p:nvPicPr>
          <p:cNvPr id="101" name="Left Chart"/>
          <p:cNvPicPr>
            <a:picLocks noChangeAspect="1"/>
          </p:cNvPicPr>
          <p:nvPr/>
        </p:nvPicPr>
        <p:blipFill>
          <a:blip r:embed="rId1"/>
          <a:stretch>
            <a:fillRect/>
          </a:stretch>
        </p:blipFill>
        <p:spPr>
          <a:xfrm>
            <a:off x="1662756" y="1825417"/>
            <a:ext cx="3532398" cy="2834640"/>
          </a:xfrm>
          <a:prstGeom prst="rect">
            <a:avLst/>
          </a:prstGeom>
        </p:spPr>
      </p:pic>
      <p:sp>
        <p:nvSpPr>
          <p:cNvPr id="102" name="Left Caption"/>
          <p:cNvSpPr txBox="1"/>
          <p:nvPr/>
        </p:nvSpPr>
        <p:spPr>
          <a:xfrm>
            <a:off x="838139" y="4797217"/>
            <a:ext cx="5181630" cy="1280160"/>
          </a:xfrm>
          <a:prstGeom prst="rect">
            <a:avLst/>
          </a:prstGeom>
        </p:spPr>
        <p:txBody>
          <a:bodyPr wrap="square" lIns="0" tIns="0" rIns="0" bIns="0">
            <a:normAutofit/>
          </a:bodyPr>
          <a:lstStyle/>
          <a:p>
            <a:r>
              <a:rPr lang="en-GB" sz="1400" b="1" dirty="0"/>
              <a:t>Bar Chart – Average Tip by Day</a:t>
            </a:r>
            <a:endParaRPr lang="en-GB" sz="1400" b="1" dirty="0"/>
          </a:p>
          <a:p>
            <a:r>
              <a:rPr lang="en-GB" sz="1200" dirty="0"/>
              <a:t>Purpose: Compare the average tip for each day.</a:t>
            </a:r>
            <a:endParaRPr lang="en-GB" sz="1200" dirty="0"/>
          </a:p>
          <a:p>
            <a:r>
              <a:rPr lang="en-GB" sz="1200" dirty="0"/>
              <a:t>Shows: A higher bar means a higher average tip that day.</a:t>
            </a:r>
            <a:endParaRPr lang="en-GB" sz="1200" dirty="0"/>
          </a:p>
        </p:txBody>
      </p:sp>
      <p:pic>
        <p:nvPicPr>
          <p:cNvPr id="103" name="Right Chart"/>
          <p:cNvPicPr>
            <a:picLocks noChangeAspect="1"/>
          </p:cNvPicPr>
          <p:nvPr/>
        </p:nvPicPr>
        <p:blipFill>
          <a:blip r:embed="rId2"/>
          <a:stretch>
            <a:fillRect/>
          </a:stretch>
        </p:blipFill>
        <p:spPr>
          <a:xfrm>
            <a:off x="7012391" y="1825417"/>
            <a:ext cx="3501248" cy="2834640"/>
          </a:xfrm>
          <a:prstGeom prst="rect">
            <a:avLst/>
          </a:prstGeom>
        </p:spPr>
      </p:pic>
      <p:sp>
        <p:nvSpPr>
          <p:cNvPr id="104" name="Right Caption"/>
          <p:cNvSpPr txBox="1"/>
          <p:nvPr/>
        </p:nvSpPr>
        <p:spPr>
          <a:xfrm>
            <a:off x="6172200" y="4797217"/>
            <a:ext cx="5181630" cy="1280160"/>
          </a:xfrm>
          <a:prstGeom prst="rect">
            <a:avLst/>
          </a:prstGeom>
        </p:spPr>
        <p:txBody>
          <a:bodyPr wrap="square" lIns="0" tIns="0" rIns="0" bIns="0">
            <a:normAutofit/>
          </a:bodyPr>
          <a:lstStyle/>
          <a:p>
            <a:r>
              <a:rPr lang="en-GB" sz="1400" b="1" dirty="0"/>
              <a:t>Line Chart – Total Bill (First 50 Records)</a:t>
            </a:r>
            <a:endParaRPr lang="en-GB" sz="1400" b="1" dirty="0"/>
          </a:p>
          <a:p>
            <a:r>
              <a:rPr lang="en-GB" sz="1200" dirty="0"/>
              <a:t>Purpose: Show how the total bill changes across records.</a:t>
            </a:r>
            <a:endParaRPr lang="en-GB" sz="1200" dirty="0"/>
          </a:p>
          <a:p>
            <a:r>
              <a:rPr lang="en-GB" sz="1200" dirty="0"/>
              <a:t>Shows: Each point is one record, connected in order.</a:t>
            </a:r>
            <a:endParaRPr lang="en-GB"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Histogram and Scatter Plot</a:t>
            </a:r>
            <a:endParaRPr lang="en-GB" dirty="0"/>
          </a:p>
        </p:txBody>
      </p:sp>
      <p:pic>
        <p:nvPicPr>
          <p:cNvPr id="101" name="Left Chart"/>
          <p:cNvPicPr>
            <a:picLocks noChangeAspect="1"/>
          </p:cNvPicPr>
          <p:nvPr/>
        </p:nvPicPr>
        <p:blipFill>
          <a:blip r:embed="rId1"/>
          <a:stretch>
            <a:fillRect/>
          </a:stretch>
        </p:blipFill>
        <p:spPr>
          <a:xfrm>
            <a:off x="1678330" y="1825417"/>
            <a:ext cx="3501248" cy="2834640"/>
          </a:xfrm>
          <a:prstGeom prst="rect">
            <a:avLst/>
          </a:prstGeom>
        </p:spPr>
      </p:pic>
      <p:sp>
        <p:nvSpPr>
          <p:cNvPr id="102" name="Left Caption"/>
          <p:cNvSpPr txBox="1"/>
          <p:nvPr/>
        </p:nvSpPr>
        <p:spPr>
          <a:xfrm>
            <a:off x="838139" y="4797217"/>
            <a:ext cx="5181630" cy="1280160"/>
          </a:xfrm>
          <a:prstGeom prst="rect">
            <a:avLst/>
          </a:prstGeom>
        </p:spPr>
        <p:txBody>
          <a:bodyPr wrap="square" lIns="0" tIns="0" rIns="0" bIns="0">
            <a:normAutofit/>
          </a:bodyPr>
          <a:lstStyle/>
          <a:p>
            <a:r>
              <a:rPr lang="en-GB" sz="1400" b="1" dirty="0"/>
              <a:t>Histogram – Distribution of Total Bill</a:t>
            </a:r>
            <a:endParaRPr lang="en-GB" sz="1400" b="1" dirty="0"/>
          </a:p>
          <a:p>
            <a:r>
              <a:rPr lang="en-GB" sz="1200" dirty="0"/>
              <a:t>Purpose: Show how total bill amounts are spread out.</a:t>
            </a:r>
            <a:endParaRPr lang="en-GB" sz="1200" dirty="0"/>
          </a:p>
          <a:p>
            <a:r>
              <a:rPr lang="en-GB" sz="1200" dirty="0"/>
              <a:t>Shows: Taller bars mean more bills fall in that range.</a:t>
            </a:r>
            <a:endParaRPr lang="en-GB" sz="1200" dirty="0"/>
          </a:p>
        </p:txBody>
      </p:sp>
      <p:pic>
        <p:nvPicPr>
          <p:cNvPr id="103" name="Right Chart"/>
          <p:cNvPicPr>
            <a:picLocks noChangeAspect="1"/>
          </p:cNvPicPr>
          <p:nvPr/>
        </p:nvPicPr>
        <p:blipFill>
          <a:blip r:embed="rId2"/>
          <a:stretch>
            <a:fillRect/>
          </a:stretch>
        </p:blipFill>
        <p:spPr>
          <a:xfrm>
            <a:off x="7012391" y="1825417"/>
            <a:ext cx="3501248" cy="2834640"/>
          </a:xfrm>
          <a:prstGeom prst="rect">
            <a:avLst/>
          </a:prstGeom>
        </p:spPr>
      </p:pic>
      <p:sp>
        <p:nvSpPr>
          <p:cNvPr id="104" name="Right Caption"/>
          <p:cNvSpPr txBox="1"/>
          <p:nvPr/>
        </p:nvSpPr>
        <p:spPr>
          <a:xfrm>
            <a:off x="6172200" y="4797217"/>
            <a:ext cx="5181630" cy="1280160"/>
          </a:xfrm>
          <a:prstGeom prst="rect">
            <a:avLst/>
          </a:prstGeom>
        </p:spPr>
        <p:txBody>
          <a:bodyPr wrap="square" lIns="0" tIns="0" rIns="0" bIns="0">
            <a:normAutofit/>
          </a:bodyPr>
          <a:lstStyle/>
          <a:p>
            <a:r>
              <a:rPr lang="en-GB" sz="1400" b="1" dirty="0"/>
              <a:t>Scatter Plot – Total Bill vs Tip</a:t>
            </a:r>
            <a:endParaRPr lang="en-GB" sz="1400" b="1" dirty="0"/>
          </a:p>
          <a:p>
            <a:r>
              <a:rPr lang="en-GB" sz="1200" dirty="0"/>
              <a:t>Purpose: Show the relationship between total bill and tip.</a:t>
            </a:r>
            <a:endParaRPr lang="en-GB" sz="1200" dirty="0"/>
          </a:p>
          <a:p>
            <a:r>
              <a:rPr lang="en-GB" sz="1200" dirty="0"/>
              <a:t>Shows: Each dot is one customer; bigger bills tend to get bigger tips.</a:t>
            </a:r>
            <a:endParaRPr lang="en-GB"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Box Plot and Pie Chart</a:t>
            </a:r>
            <a:endParaRPr lang="en-GB" dirty="0"/>
          </a:p>
        </p:txBody>
      </p:sp>
      <p:pic>
        <p:nvPicPr>
          <p:cNvPr id="101" name="Left Chart"/>
          <p:cNvPicPr>
            <a:picLocks noChangeAspect="1"/>
          </p:cNvPicPr>
          <p:nvPr/>
        </p:nvPicPr>
        <p:blipFill>
          <a:blip r:embed="rId1"/>
          <a:stretch>
            <a:fillRect/>
          </a:stretch>
        </p:blipFill>
        <p:spPr>
          <a:xfrm>
            <a:off x="1678330" y="1825417"/>
            <a:ext cx="3501248" cy="2834640"/>
          </a:xfrm>
          <a:prstGeom prst="rect">
            <a:avLst/>
          </a:prstGeom>
        </p:spPr>
      </p:pic>
      <p:sp>
        <p:nvSpPr>
          <p:cNvPr id="102" name="Left Caption"/>
          <p:cNvSpPr txBox="1"/>
          <p:nvPr/>
        </p:nvSpPr>
        <p:spPr>
          <a:xfrm>
            <a:off x="838139" y="4797217"/>
            <a:ext cx="5181630" cy="1280160"/>
          </a:xfrm>
          <a:prstGeom prst="rect">
            <a:avLst/>
          </a:prstGeom>
        </p:spPr>
        <p:txBody>
          <a:bodyPr wrap="square" lIns="0" tIns="0" rIns="0" bIns="0">
            <a:normAutofit/>
          </a:bodyPr>
          <a:lstStyle/>
          <a:p>
            <a:r>
              <a:rPr lang="en-GB" sz="1400" b="1" dirty="0"/>
              <a:t>Box Plot – Total Bill by Day</a:t>
            </a:r>
            <a:endParaRPr lang="en-GB" sz="1400" b="1" dirty="0"/>
          </a:p>
          <a:p>
            <a:r>
              <a:rPr lang="en-GB" sz="1200" dirty="0"/>
              <a:t>Purpose: Compare total bill amounts between days.</a:t>
            </a:r>
            <a:endParaRPr lang="en-GB" sz="1200" dirty="0"/>
          </a:p>
          <a:p>
            <a:r>
              <a:rPr lang="en-GB" sz="1200" dirty="0"/>
              <a:t>Shows: The box is the middle 50% of bills; dots are outliers.</a:t>
            </a:r>
            <a:endParaRPr lang="en-GB" sz="1200" dirty="0"/>
          </a:p>
        </p:txBody>
      </p:sp>
      <p:pic>
        <p:nvPicPr>
          <p:cNvPr id="103" name="Right Chart"/>
          <p:cNvPicPr>
            <a:picLocks noChangeAspect="1"/>
          </p:cNvPicPr>
          <p:nvPr/>
        </p:nvPicPr>
        <p:blipFill>
          <a:blip r:embed="rId2"/>
          <a:stretch>
            <a:fillRect/>
          </a:stretch>
        </p:blipFill>
        <p:spPr>
          <a:xfrm>
            <a:off x="7421562" y="1825417"/>
            <a:ext cx="2682907" cy="2834640"/>
          </a:xfrm>
          <a:prstGeom prst="rect">
            <a:avLst/>
          </a:prstGeom>
        </p:spPr>
      </p:pic>
      <p:sp>
        <p:nvSpPr>
          <p:cNvPr id="104" name="Right Caption"/>
          <p:cNvSpPr txBox="1"/>
          <p:nvPr/>
        </p:nvSpPr>
        <p:spPr>
          <a:xfrm>
            <a:off x="6172200" y="4797217"/>
            <a:ext cx="5181630" cy="1280160"/>
          </a:xfrm>
          <a:prstGeom prst="rect">
            <a:avLst/>
          </a:prstGeom>
        </p:spPr>
        <p:txBody>
          <a:bodyPr wrap="square" lIns="0" tIns="0" rIns="0" bIns="0">
            <a:normAutofit/>
          </a:bodyPr>
          <a:lstStyle/>
          <a:p>
            <a:r>
              <a:rPr lang="en-GB" sz="1400" b="1" dirty="0"/>
              <a:t>Pie Chart – Smokers and Non-Smokers</a:t>
            </a:r>
            <a:endParaRPr lang="en-GB" sz="1400" b="1" dirty="0"/>
          </a:p>
          <a:p>
            <a:r>
              <a:rPr lang="en-GB" sz="1200" dirty="0"/>
              <a:t>Purpose: Show the share of smokers vs non-smokers.</a:t>
            </a:r>
            <a:endParaRPr lang="en-GB" sz="1200" dirty="0"/>
          </a:p>
          <a:p>
            <a:r>
              <a:rPr lang="en-GB" sz="1200" dirty="0"/>
              <a:t>Shows: Each slice is a percentage of the whole group.</a:t>
            </a:r>
            <a:endParaRPr lang="en-GB"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3000"/>
          </a:xfrm>
        </p:spPr>
        <p:txBody>
          <a:bodyPr/>
          <a:lstStyle/>
          <a:p>
            <a:r>
              <a:rPr lang="en-GB" dirty="0"/>
              <a:t>Heatmap</a:t>
            </a:r>
            <a:endParaRPr lang="en-GB" dirty="0"/>
          </a:p>
        </p:txBody>
      </p:sp>
      <p:pic>
        <p:nvPicPr>
          <p:cNvPr id="55" name="Chart Image"/>
          <p:cNvPicPr>
            <a:picLocks noChangeAspect="1"/>
          </p:cNvPicPr>
          <p:nvPr/>
        </p:nvPicPr>
        <p:blipFill>
          <a:blip r:embed="rId1"/>
          <a:stretch>
            <a:fillRect/>
          </a:stretch>
        </p:blipFill>
        <p:spPr>
          <a:xfrm>
            <a:off x="5183734" y="1783080"/>
            <a:ext cx="6172200" cy="4206240"/>
          </a:xfrm>
          <a:prstGeom prst="rect">
            <a:avLst/>
          </a:prstGeom>
        </p:spPr>
      </p:pic>
      <p:sp>
        <p:nvSpPr>
          <p:cNvPr id="4" name="Text Placeholder 3"/>
          <p:cNvSpPr>
            <a:spLocks noGrp="1"/>
          </p:cNvSpPr>
          <p:nvPr>
            <p:ph type="body" sz="half" idx="2"/>
          </p:nvPr>
        </p:nvSpPr>
        <p:spPr/>
        <p:txBody>
          <a:bodyPr/>
          <a:lstStyle/>
          <a:p>
            <a:r>
              <a:rPr lang="en-GB" dirty="0"/>
              <a:t>A heatmap uses color and numbers to show how variables relate to each other.</a:t>
            </a:r>
            <a:endParaRPr lang="en-GB" dirty="0"/>
          </a:p>
          <a:p>
            <a:r>
              <a:rPr lang="en-GB" dirty="0"/>
              <a:t>We used total_bill, tip, and size.</a:t>
            </a:r>
            <a:endParaRPr lang="en-GB" dirty="0"/>
          </a:p>
          <a:p>
            <a:r>
              <a:rPr lang="en-GB" dirty="0"/>
              <a:t>Numbers closer to 1 mean a stronger relationship.</a:t>
            </a:r>
            <a:endParaRPr lang="en-GB" dirty="0"/>
          </a:p>
          <a:p>
            <a:r>
              <a:rPr lang="en-GB" dirty="0"/>
              <a:t>Here, total_bill and tip are closely related.</a:t>
            </a:r>
            <a:endParaRPr lang="en-GB"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3000"/>
          </a:xfrm>
        </p:spPr>
        <p:txBody>
          <a:bodyPr/>
          <a:lstStyle/>
          <a:p>
            <a:r>
              <a:rPr lang="en-GB" dirty="0"/>
              <a:t>Interactive Plotly Chart</a:t>
            </a:r>
            <a:endParaRPr lang="en-GB" dirty="0"/>
          </a:p>
        </p:txBody>
      </p:sp>
      <p:pic>
        <p:nvPicPr>
          <p:cNvPr id="55" name="Chart Image"/>
          <p:cNvPicPr>
            <a:picLocks noChangeAspect="1"/>
          </p:cNvPicPr>
          <p:nvPr/>
        </p:nvPicPr>
        <p:blipFill>
          <a:blip r:embed="rId1"/>
          <a:stretch>
            <a:fillRect/>
          </a:stretch>
        </p:blipFill>
        <p:spPr>
          <a:xfrm>
            <a:off x="5183734" y="1783080"/>
            <a:ext cx="6172200" cy="4206240"/>
          </a:xfrm>
          <a:prstGeom prst="rect">
            <a:avLst/>
          </a:prstGeom>
        </p:spPr>
      </p:pic>
      <p:sp>
        <p:nvSpPr>
          <p:cNvPr id="4" name="Text Placeholder 3"/>
          <p:cNvSpPr>
            <a:spLocks noGrp="1"/>
          </p:cNvSpPr>
          <p:nvPr>
            <p:ph type="body" sz="half" idx="2"/>
          </p:nvPr>
        </p:nvSpPr>
        <p:spPr/>
        <p:txBody>
          <a:bodyPr/>
          <a:lstStyle/>
          <a:p>
            <a:r>
              <a:rPr lang="en-GB" dirty="0"/>
              <a:t>Plotly was used to make this chart interactive.</a:t>
            </a:r>
            <a:endParaRPr lang="en-GB" dirty="0"/>
          </a:p>
          <a:p>
            <a:r>
              <a:rPr lang="en-GB" dirty="0"/>
              <a:t>It shows total_bill vs tip, same data as our scatter plot.</a:t>
            </a:r>
            <a:endParaRPr lang="en-GB" dirty="0"/>
          </a:p>
          <a:p>
            <a:r>
              <a:rPr lang="en-GB" dirty="0"/>
              <a:t>In the live notebook, you can hover over points and zoom in.</a:t>
            </a:r>
            <a:endParaRPr lang="en-GB" dirty="0"/>
          </a:p>
          <a:p>
            <a:r>
              <a:rPr lang="en-GB" dirty="0"/>
              <a:t>This makes it easier to explore the data closely.</a:t>
            </a:r>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Best Practices in Data Visualization</a:t>
            </a:r>
            <a:endParaRPr lang="en-GB" dirty="0"/>
          </a:p>
        </p:txBody>
      </p:sp>
      <p:sp>
        <p:nvSpPr>
          <p:cNvPr id="3" name="Content Placeholder 2"/>
          <p:cNvSpPr>
            <a:spLocks noGrp="1"/>
          </p:cNvSpPr>
          <p:nvPr>
            <p:ph idx="1"/>
          </p:nvPr>
        </p:nvSpPr>
        <p:spPr/>
        <p:txBody>
          <a:bodyPr/>
          <a:lstStyle/>
          <a:p>
            <a:r>
              <a:rPr lang="en-GB" dirty="0"/>
              <a:t>Choose the correct chart for your data.</a:t>
            </a:r>
            <a:endParaRPr lang="en-GB" dirty="0"/>
          </a:p>
          <a:p>
            <a:r>
              <a:rPr lang="en-GB" dirty="0"/>
              <a:t>Use clear titles.</a:t>
            </a:r>
            <a:endParaRPr lang="en-GB" dirty="0"/>
          </a:p>
          <a:p>
            <a:r>
              <a:rPr lang="en-GB" dirty="0"/>
              <a:t>Label the x-axis and y-axis.</a:t>
            </a:r>
            <a:endParaRPr lang="en-GB" dirty="0"/>
          </a:p>
          <a:p>
            <a:r>
              <a:rPr lang="en-GB" dirty="0"/>
              <a:t>Keep charts simple.</a:t>
            </a:r>
            <a:endParaRPr lang="en-GB" dirty="0"/>
          </a:p>
          <a:p>
            <a:r>
              <a:rPr lang="en-GB" dirty="0"/>
              <a:t>Avoid unnecessary information.</a:t>
            </a:r>
            <a:endParaRPr lang="en-GB" dirty="0"/>
          </a:p>
          <a:p>
            <a:r>
              <a:rPr lang="en-GB" dirty="0"/>
              <a:t>Make charts easy to read.</a:t>
            </a:r>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endParaRPr lang="en-GB" dirty="0"/>
          </a:p>
        </p:txBody>
      </p:sp>
      <p:sp>
        <p:nvSpPr>
          <p:cNvPr id="3" name="Content Placeholder 2"/>
          <p:cNvSpPr>
            <a:spLocks noGrp="1"/>
          </p:cNvSpPr>
          <p:nvPr>
            <p:ph idx="1"/>
          </p:nvPr>
        </p:nvSpPr>
        <p:spPr/>
        <p:txBody>
          <a:bodyPr/>
          <a:lstStyle/>
          <a:p>
            <a:r>
              <a:rPr lang="en-GB" dirty="0"/>
              <a:t>We learned how to use Matplotlib, Seaborn, Plotly, and Pandas to visualize data.</a:t>
            </a:r>
            <a:endParaRPr lang="en-GB" dirty="0"/>
          </a:p>
          <a:p>
            <a:r>
              <a:rPr lang="en-GB" dirty="0"/>
              <a:t>Charts helped us understand the Tips dataset more easily than raw numbers.</a:t>
            </a:r>
            <a:endParaRPr lang="en-GB" dirty="0"/>
          </a:p>
          <a:p>
            <a:r>
              <a:rPr lang="en-GB" dirty="0"/>
              <a:t>Data visualization is a useful skill for analyzing and presenting data.</a:t>
            </a:r>
            <a:endParaRPr lang="en-GB" dirty="0"/>
          </a:p>
          <a:p>
            <a:r>
              <a:rPr lang="en-GB" dirty="0"/>
              <a:t>Python makes it possible to create both simple and interactive charts.</a:t>
            </a: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endParaRPr lang="en-GB" dirty="0"/>
          </a:p>
        </p:txBody>
      </p:sp>
      <p:sp>
        <p:nvSpPr>
          <p:cNvPr id="3" name="Content Placeholder 2"/>
          <p:cNvSpPr>
            <a:spLocks noGrp="1"/>
          </p:cNvSpPr>
          <p:nvPr>
            <p:ph idx="1"/>
          </p:nvPr>
        </p:nvSpPr>
        <p:spPr/>
        <p:txBody>
          <a:bodyPr/>
          <a:lstStyle/>
          <a:p>
            <a:r>
              <a:rPr lang="en-GB" sz="1400" dirty="0"/>
              <a:t>Cairo, A. (2016). The Truthful Art: Data, Charts, and Maps for Communication. New Riders.</a:t>
            </a:r>
            <a:endParaRPr lang="en-GB" sz="1400" dirty="0"/>
          </a:p>
          <a:p>
            <a:r>
              <a:rPr lang="en-GB" sz="1400" dirty="0"/>
              <a:t>Hunter, J. D. (2007). Matplotlib: A 2D graphics environment. Computing in Science &amp; Engineering, 9(3), 90–95.</a:t>
            </a:r>
            <a:endParaRPr lang="en-GB" sz="1400" dirty="0"/>
          </a:p>
          <a:p>
            <a:r>
              <a:rPr lang="en-GB" sz="1400" dirty="0"/>
              <a:t>McKinney, W. (2017). Python for Data Analysis (2nd ed.). O'Reilly Media.</a:t>
            </a:r>
            <a:endParaRPr lang="en-GB" sz="1400" dirty="0"/>
          </a:p>
          <a:p>
            <a:r>
              <a:rPr lang="en-GB" sz="1400" dirty="0"/>
              <a:t>Plotly Technologies Inc. (2015). Collaborative Data Science. Plotly.</a:t>
            </a:r>
            <a:endParaRPr lang="en-GB" sz="1400" dirty="0"/>
          </a:p>
          <a:p>
            <a:r>
              <a:rPr lang="en-GB" sz="1400" dirty="0"/>
              <a:t>Tufte, E. R. (2001). The Visual Display of Quantitative Information (2nd ed.). Graphics Press.</a:t>
            </a:r>
            <a:endParaRPr lang="en-GB" sz="1400" dirty="0"/>
          </a:p>
          <a:p>
            <a:r>
              <a:rPr lang="en-GB" sz="1400" dirty="0"/>
              <a:t>Waskom, M. (2021). Seaborn: Statistical data visualization. Journal of Open Source Software, 6(60), 3021.</a:t>
            </a:r>
            <a:endParaRPr lang="en-GB"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Trebuchet MS">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3673</Words>
  <Application>WPS Presentation</Application>
  <PresentationFormat>Widescreen</PresentationFormat>
  <Paragraphs>102</Paragraphs>
  <Slides>13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SimSun</vt:lpstr>
      <vt:lpstr>Wingdings</vt:lpstr>
      <vt:lpstr>Trebuchet MS</vt:lpstr>
      <vt:lpstr>Microsoft YaHei</vt:lpstr>
      <vt:lpstr>Arial Unicode MS</vt:lpstr>
      <vt:lpstr>Calibri</vt:lpstr>
      <vt:lpstr>Office Theme</vt:lpstr>
      <vt:lpstr>Data Visualization in Python</vt:lpstr>
      <vt:lpstr>Introduction</vt:lpstr>
      <vt:lpstr>Python Libraries Used</vt:lpstr>
      <vt:lpstr>The Dataset</vt:lpstr>
      <vt:lpstr>Bar Chart and Line Chart</vt:lpstr>
      <vt:lpstr>Histogram and Scatter Plot</vt:lpstr>
      <vt:lpstr>Box Plot and Pie Chart</vt:lpstr>
      <vt:lpstr>Heatmap</vt:lpstr>
      <vt:lpstr>Interactive Plotly Chart</vt:lpstr>
      <vt:lpstr>Best Practices in Data Visualization</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UCU </dc:title>
  <dc:creator>Microsoft Office User</dc:creator>
  <cp:lastModifiedBy>AMANYA AARON</cp:lastModifiedBy>
  <cp:revision>23</cp:revision>
  <dcterms:created xsi:type="dcterms:W3CDTF">2023-08-23T08:11:00Z</dcterms:created>
  <dcterms:modified xsi:type="dcterms:W3CDTF">2026-09-24T19:48:22Z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94502AF96B444AB9BF11F45E2AFC7B29_13</vt:lpwstr>
  </property>
  <property fmtid="{D5CDD505-2E9C-101B-9397-08002B2CF9AE}" pid="3" name="KSOProductBuildVer">
    <vt:lpwstr>1033-12.1.0.28485</vt:lpwstr>
  </property>
</Properties>
</file>